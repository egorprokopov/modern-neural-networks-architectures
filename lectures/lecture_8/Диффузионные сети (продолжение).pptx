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Golos Text"/>
      <p:regular r:id="rId20"/>
      <p:bold r:id="rId21"/>
    </p:embeddedFont>
    <p:embeddedFont>
      <p:font typeface="Golos Text SemiBold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11">
          <p15:clr>
            <a:srgbClr val="A4A3A4"/>
          </p15:clr>
        </p15:guide>
        <p15:guide id="2" pos="2874">
          <p15:clr>
            <a:srgbClr val="A4A3A4"/>
          </p15:clr>
        </p15:guide>
      </p15:sldGuideLst>
    </p:ext>
    <p:ext uri="GoogleSlidesCustomDataVersion2">
      <go:slidesCustomData xmlns:go="http://customooxmlschemas.google.com/" r:id="rId24" roundtripDataSignature="AMtx7mjJ206mBcoSmjYR+wrSOxaKuZ9p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11" orient="horz"/>
        <p:guide pos="287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GolosText-regular.fntdata"/><Relationship Id="rId11" Type="http://schemas.openxmlformats.org/officeDocument/2006/relationships/slide" Target="slides/slide6.xml"/><Relationship Id="rId22" Type="http://schemas.openxmlformats.org/officeDocument/2006/relationships/font" Target="fonts/GolosTextSemiBold-regular.fntdata"/><Relationship Id="rId10" Type="http://schemas.openxmlformats.org/officeDocument/2006/relationships/slide" Target="slides/slide5.xml"/><Relationship Id="rId21" Type="http://schemas.openxmlformats.org/officeDocument/2006/relationships/font" Target="fonts/GolosText-bold.fntdata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font" Target="fonts/GolosTextSemiBol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4" name="Google Shape;134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19fc95aa18_0_6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g319fc95aa18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" name="Google Shape;140;g319fc95aa18_0_6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21e002ecb3_0_6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g321e002ecb3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g321e002ecb3_0_6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21e002ecb3_0_7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g321e002ecb3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3" name="Google Shape;163;g321e002ecb3_0_7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21df1b56f6_1_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g321df1b56f6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" name="Google Shape;182;g321df1b56f6_1_2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21e002ecb3_0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g321e002ecb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g321e002ecb3_0_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21e002ecb3_0_5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g321e002ecb3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9" name="Google Shape;209;g321e002ecb3_0_5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21df1b56f6_1_5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g321df1b56f6_1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6" name="Google Shape;216;g321df1b56f6_1_5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21df1b56f6_1_6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g321df1b56f6_1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3" name="Google Shape;223;g321df1b56f6_1_6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21e002ecb3_0_4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g321e002ecb3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0" name="Google Shape;230;g321e002ecb3_0_4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21df1b56f6_1_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g321df1b56f6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7" name="Google Shape;237;g321df1b56f6_1_4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21df1b56f6_1_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g321df1b56f6_1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4" name="Google Shape;244;g321df1b56f6_1_5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21e002ecb3_0_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g321e002ecb3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1" name="Google Shape;251;g321e002ecb3_0_4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21e002ecb3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g321e002ecb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8" name="Google Shape;258;g321e002ecb3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7"/>
          <p:cNvSpPr txBox="1"/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7"/>
          <p:cNvSpPr txBox="1"/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7"/>
          <p:cNvSpPr txBox="1"/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7"/>
          <p:cNvSpPr txBox="1"/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7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kfql">
  <p:cSld name="Ckfql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2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2"/>
          <p:cNvSpPr txBox="1"/>
          <p:nvPr>
            <p:ph idx="1" type="body"/>
          </p:nvPr>
        </p:nvSpPr>
        <p:spPr>
          <a:xfrm>
            <a:off x="457200" y="1211943"/>
            <a:ext cx="7467600" cy="34471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8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8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нал">
  <p:cSld name="Финал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8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28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Custom Layout">
  <p:cSld name="5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7784" name="adj"/>
            </a:avLst>
          </a:prstGeom>
          <a:noFill/>
          <a:ln>
            <a:noFill/>
          </a:ln>
        </p:spPr>
      </p:sp>
      <p:sp>
        <p:nvSpPr>
          <p:cNvPr id="32" name="Google Shape;32;p23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3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Пользовательский макет">
  <p:cSld name="5_Пользовательский макет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9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7617" name="adj"/>
            </a:avLst>
          </a:prstGeom>
          <a:noFill/>
          <a:ln>
            <a:noFill/>
          </a:ln>
        </p:spPr>
      </p:sp>
      <p:sp>
        <p:nvSpPr>
          <p:cNvPr id="36" name="Google Shape;36;p19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9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0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0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20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Пользовательский макет">
  <p:cSld name="9_Пользовательский макет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1"/>
          <p:cNvSpPr txBox="1"/>
          <p:nvPr>
            <p:ph idx="1" type="body"/>
          </p:nvPr>
        </p:nvSpPr>
        <p:spPr>
          <a:xfrm>
            <a:off x="457201" y="1059322"/>
            <a:ext cx="3897086" cy="17346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1"/>
          <p:cNvSpPr txBox="1"/>
          <p:nvPr>
            <p:ph idx="2" type="body"/>
          </p:nvPr>
        </p:nvSpPr>
        <p:spPr>
          <a:xfrm>
            <a:off x="457202" y="3105836"/>
            <a:ext cx="3897084" cy="16403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3" type="body"/>
          </p:nvPr>
        </p:nvSpPr>
        <p:spPr>
          <a:xfrm>
            <a:off x="4789714" y="1059322"/>
            <a:ext cx="3632201" cy="36868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ustom Layout">
  <p:cSld name="6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4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1" type="body"/>
          </p:nvPr>
        </p:nvSpPr>
        <p:spPr>
          <a:xfrm>
            <a:off x="3102428" y="943208"/>
            <a:ext cx="5526315" cy="3875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24"/>
          <p:cNvSpPr/>
          <p:nvPr>
            <p:ph idx="2" type="pic"/>
          </p:nvPr>
        </p:nvSpPr>
        <p:spPr>
          <a:xfrm>
            <a:off x="457200" y="943208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53" name="Google Shape;53;p24"/>
          <p:cNvSpPr/>
          <p:nvPr>
            <p:ph idx="3" type="pic"/>
          </p:nvPr>
        </p:nvSpPr>
        <p:spPr>
          <a:xfrm>
            <a:off x="457200" y="2935720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ustom Layout">
  <p:cSld name="4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"/>
          <p:cNvSpPr txBox="1"/>
          <p:nvPr>
            <p:ph idx="1" type="body"/>
          </p:nvPr>
        </p:nvSpPr>
        <p:spPr>
          <a:xfrm>
            <a:off x="457201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2" type="body"/>
          </p:nvPr>
        </p:nvSpPr>
        <p:spPr>
          <a:xfrm>
            <a:off x="3209454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25"/>
          <p:cNvSpPr txBox="1"/>
          <p:nvPr>
            <p:ph idx="3" type="body"/>
          </p:nvPr>
        </p:nvSpPr>
        <p:spPr>
          <a:xfrm>
            <a:off x="5969804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25"/>
          <p:cNvSpPr txBox="1"/>
          <p:nvPr>
            <p:ph idx="4" type="body"/>
          </p:nvPr>
        </p:nvSpPr>
        <p:spPr>
          <a:xfrm>
            <a:off x="457200" y="3287828"/>
            <a:ext cx="2588883" cy="139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302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indent="-3302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59" name="Google Shape;59;p25"/>
          <p:cNvSpPr txBox="1"/>
          <p:nvPr>
            <p:ph idx="5" type="body"/>
          </p:nvPr>
        </p:nvSpPr>
        <p:spPr>
          <a:xfrm>
            <a:off x="3207251" y="3299578"/>
            <a:ext cx="2591416" cy="139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228600" lvl="4" marL="22860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60" name="Google Shape;60;p25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5"/>
          <p:cNvSpPr txBox="1"/>
          <p:nvPr>
            <p:ph idx="6" type="body"/>
          </p:nvPr>
        </p:nvSpPr>
        <p:spPr>
          <a:xfrm>
            <a:off x="5967600" y="3299578"/>
            <a:ext cx="2591416" cy="139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228600" lvl="4" marL="22860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62" name="Google Shape;62;p25"/>
          <p:cNvSpPr/>
          <p:nvPr>
            <p:ph idx="7" type="pic"/>
          </p:nvPr>
        </p:nvSpPr>
        <p:spPr>
          <a:xfrm>
            <a:off x="469081" y="944463"/>
            <a:ext cx="2577001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63" name="Google Shape;63;p25"/>
          <p:cNvSpPr/>
          <p:nvPr>
            <p:ph idx="8" type="pic"/>
          </p:nvPr>
        </p:nvSpPr>
        <p:spPr>
          <a:xfrm>
            <a:off x="3221666" y="944462"/>
            <a:ext cx="2577001" cy="1883023"/>
          </a:xfrm>
          <a:prstGeom prst="roundRect">
            <a:avLst>
              <a:gd fmla="val 12905" name="adj"/>
            </a:avLst>
          </a:prstGeom>
          <a:noFill/>
          <a:ln>
            <a:noFill/>
          </a:ln>
        </p:spPr>
      </p:sp>
      <p:sp>
        <p:nvSpPr>
          <p:cNvPr id="64" name="Google Shape;64;p25"/>
          <p:cNvSpPr/>
          <p:nvPr>
            <p:ph idx="9" type="pic"/>
          </p:nvPr>
        </p:nvSpPr>
        <p:spPr>
          <a:xfrm>
            <a:off x="5980690" y="944463"/>
            <a:ext cx="2577001" cy="1883023"/>
          </a:xfrm>
          <a:prstGeom prst="roundRect">
            <a:avLst>
              <a:gd fmla="val 10512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Custom Layout">
  <p:cSld name="8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6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 txBox="1"/>
          <p:nvPr>
            <p:ph idx="1" type="body"/>
          </p:nvPr>
        </p:nvSpPr>
        <p:spPr>
          <a:xfrm>
            <a:off x="457201" y="963397"/>
            <a:ext cx="2532744" cy="18830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0" sz="18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26"/>
          <p:cNvSpPr/>
          <p:nvPr>
            <p:ph idx="2" type="pic"/>
          </p:nvPr>
        </p:nvSpPr>
        <p:spPr>
          <a:xfrm>
            <a:off x="3095171" y="963397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69" name="Google Shape;69;p26"/>
          <p:cNvSpPr/>
          <p:nvPr>
            <p:ph idx="3" type="pic"/>
          </p:nvPr>
        </p:nvSpPr>
        <p:spPr>
          <a:xfrm>
            <a:off x="5733141" y="966928"/>
            <a:ext cx="2532744" cy="1883023"/>
          </a:xfrm>
          <a:prstGeom prst="roundRect">
            <a:avLst>
              <a:gd fmla="val 11196" name="adj"/>
            </a:avLst>
          </a:prstGeom>
          <a:noFill/>
          <a:ln>
            <a:noFill/>
          </a:ln>
        </p:spPr>
      </p:sp>
      <p:sp>
        <p:nvSpPr>
          <p:cNvPr id="70" name="Google Shape;70;p26"/>
          <p:cNvSpPr/>
          <p:nvPr>
            <p:ph idx="4" type="pic"/>
          </p:nvPr>
        </p:nvSpPr>
        <p:spPr>
          <a:xfrm>
            <a:off x="5733141" y="2954042"/>
            <a:ext cx="2532744" cy="1883023"/>
          </a:xfrm>
          <a:prstGeom prst="roundRect">
            <a:avLst>
              <a:gd fmla="val 8802" name="adj"/>
            </a:avLst>
          </a:prstGeom>
          <a:noFill/>
          <a:ln>
            <a:noFill/>
          </a:ln>
        </p:spPr>
      </p:sp>
      <p:sp>
        <p:nvSpPr>
          <p:cNvPr id="71" name="Google Shape;71;p26"/>
          <p:cNvSpPr/>
          <p:nvPr>
            <p:ph idx="5" type="pic"/>
          </p:nvPr>
        </p:nvSpPr>
        <p:spPr>
          <a:xfrm>
            <a:off x="3095171" y="2960314"/>
            <a:ext cx="2532744" cy="1883023"/>
          </a:xfrm>
          <a:prstGeom prst="roundRect">
            <a:avLst>
              <a:gd fmla="val 8459" name="adj"/>
            </a:avLst>
          </a:prstGeom>
          <a:noFill/>
          <a:ln>
            <a:noFill/>
          </a:ln>
        </p:spPr>
      </p:sp>
      <p:sp>
        <p:nvSpPr>
          <p:cNvPr id="72" name="Google Shape;72;p26"/>
          <p:cNvSpPr/>
          <p:nvPr>
            <p:ph idx="6" type="pic"/>
          </p:nvPr>
        </p:nvSpPr>
        <p:spPr>
          <a:xfrm>
            <a:off x="457200" y="2960314"/>
            <a:ext cx="2532744" cy="1883023"/>
          </a:xfrm>
          <a:prstGeom prst="roundRect">
            <a:avLst>
              <a:gd fmla="val 10169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Custom Layout">
  <p:cSld name="10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7"/>
          <p:cNvSpPr txBox="1"/>
          <p:nvPr>
            <p:ph idx="1" type="body"/>
          </p:nvPr>
        </p:nvSpPr>
        <p:spPr>
          <a:xfrm>
            <a:off x="457201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7"/>
          <p:cNvSpPr txBox="1"/>
          <p:nvPr>
            <p:ph idx="2" type="body"/>
          </p:nvPr>
        </p:nvSpPr>
        <p:spPr>
          <a:xfrm>
            <a:off x="3275819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3" type="body"/>
          </p:nvPr>
        </p:nvSpPr>
        <p:spPr>
          <a:xfrm>
            <a:off x="6085706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/>
          <p:nvPr>
            <p:ph idx="4" type="pic"/>
          </p:nvPr>
        </p:nvSpPr>
        <p:spPr>
          <a:xfrm>
            <a:off x="454050" y="952607"/>
            <a:ext cx="2589213" cy="1304294"/>
          </a:xfrm>
          <a:prstGeom prst="roundRect">
            <a:avLst>
              <a:gd fmla="val 9261" name="adj"/>
            </a:avLst>
          </a:prstGeom>
          <a:noFill/>
          <a:ln>
            <a:noFill/>
          </a:ln>
        </p:spPr>
      </p:sp>
      <p:sp>
        <p:nvSpPr>
          <p:cNvPr id="79" name="Google Shape;79;p27"/>
          <p:cNvSpPr/>
          <p:nvPr>
            <p:ph idx="5" type="pic"/>
          </p:nvPr>
        </p:nvSpPr>
        <p:spPr>
          <a:xfrm>
            <a:off x="3275818" y="952607"/>
            <a:ext cx="2589213" cy="1304294"/>
          </a:xfrm>
          <a:prstGeom prst="roundRect">
            <a:avLst>
              <a:gd fmla="val 11730" name="adj"/>
            </a:avLst>
          </a:prstGeom>
          <a:noFill/>
          <a:ln>
            <a:noFill/>
          </a:ln>
        </p:spPr>
      </p:sp>
      <p:sp>
        <p:nvSpPr>
          <p:cNvPr id="80" name="Google Shape;80;p27"/>
          <p:cNvSpPr/>
          <p:nvPr>
            <p:ph idx="6" type="pic"/>
          </p:nvPr>
        </p:nvSpPr>
        <p:spPr>
          <a:xfrm>
            <a:off x="6089789" y="952607"/>
            <a:ext cx="2589213" cy="1304294"/>
          </a:xfrm>
          <a:prstGeom prst="roundRect">
            <a:avLst>
              <a:gd fmla="val 10249" name="adj"/>
            </a:avLst>
          </a:prstGeom>
          <a:noFill/>
          <a:ln>
            <a:noFill/>
          </a:ln>
        </p:spPr>
      </p:sp>
      <p:sp>
        <p:nvSpPr>
          <p:cNvPr id="81" name="Google Shape;81;p27"/>
          <p:cNvSpPr txBox="1"/>
          <p:nvPr>
            <p:ph idx="7" type="body"/>
          </p:nvPr>
        </p:nvSpPr>
        <p:spPr>
          <a:xfrm>
            <a:off x="460352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27"/>
          <p:cNvSpPr txBox="1"/>
          <p:nvPr>
            <p:ph idx="8" type="body"/>
          </p:nvPr>
        </p:nvSpPr>
        <p:spPr>
          <a:xfrm>
            <a:off x="3278970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27"/>
          <p:cNvSpPr txBox="1"/>
          <p:nvPr>
            <p:ph idx="9" type="body"/>
          </p:nvPr>
        </p:nvSpPr>
        <p:spPr>
          <a:xfrm>
            <a:off x="6088857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27"/>
          <p:cNvSpPr/>
          <p:nvPr>
            <p:ph idx="13" type="pic"/>
          </p:nvPr>
        </p:nvSpPr>
        <p:spPr>
          <a:xfrm>
            <a:off x="457201" y="2866358"/>
            <a:ext cx="2589213" cy="1304294"/>
          </a:xfrm>
          <a:prstGeom prst="roundRect">
            <a:avLst>
              <a:gd fmla="val 12224" name="adj"/>
            </a:avLst>
          </a:prstGeom>
          <a:noFill/>
          <a:ln>
            <a:noFill/>
          </a:ln>
        </p:spPr>
      </p:sp>
      <p:sp>
        <p:nvSpPr>
          <p:cNvPr id="85" name="Google Shape;85;p27"/>
          <p:cNvSpPr/>
          <p:nvPr>
            <p:ph idx="14" type="pic"/>
          </p:nvPr>
        </p:nvSpPr>
        <p:spPr>
          <a:xfrm>
            <a:off x="3278969" y="2866358"/>
            <a:ext cx="2589213" cy="1304294"/>
          </a:xfrm>
          <a:prstGeom prst="roundRect">
            <a:avLst>
              <a:gd fmla="val 11236" name="adj"/>
            </a:avLst>
          </a:prstGeom>
          <a:noFill/>
          <a:ln>
            <a:noFill/>
          </a:ln>
        </p:spPr>
      </p:sp>
      <p:sp>
        <p:nvSpPr>
          <p:cNvPr id="86" name="Google Shape;86;p27"/>
          <p:cNvSpPr/>
          <p:nvPr>
            <p:ph idx="15" type="pic"/>
          </p:nvPr>
        </p:nvSpPr>
        <p:spPr>
          <a:xfrm>
            <a:off x="6092940" y="2866358"/>
            <a:ext cx="2589213" cy="1304294"/>
          </a:xfrm>
          <a:prstGeom prst="roundRect">
            <a:avLst>
              <a:gd fmla="val 9755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ользовательский макет">
  <p:cSld name="Пользовательский макет">
    <p:bg>
      <p:bgPr>
        <a:solidFill>
          <a:srgbClr val="FFFFFF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9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29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0" name="Google Shape;90;p29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29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29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Пользовательский макет">
  <p:cSld name="6_Пользовательский макет"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0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30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Custom Layout">
  <p:cSld name="9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1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31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Пользовательский макет">
  <p:cSld name="3_Пользовательский макет">
    <p:bg>
      <p:bgPr>
        <a:solidFill>
          <a:srgbClr val="FFFFF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2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32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7952" name="adj"/>
            </a:avLst>
          </a:prstGeom>
          <a:noFill/>
          <a:ln>
            <a:noFill/>
          </a:ln>
        </p:spPr>
      </p:sp>
      <p:sp>
        <p:nvSpPr>
          <p:cNvPr id="102" name="Google Shape;102;p32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Пользовательский макет">
  <p:cSld name="7_Пользовательский макет">
    <p:bg>
      <p:bgPr>
        <a:solidFill>
          <a:srgbClr val="FFFFFF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3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33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Пользовательский макет">
  <p:cSld name="1_Пользовательский макет">
    <p:bg>
      <p:bgPr>
        <a:solidFill>
          <a:srgbClr val="FFFFFF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4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8" name="Google Shape;108;p34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34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34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1" name="Google Shape;111;p34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Пользовательский макет">
  <p:cSld name="4_Пользовательский макет">
    <p:bg>
      <p:bgPr>
        <a:solidFill>
          <a:srgbClr val="FFFFF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5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35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8957" name="adj"/>
            </a:avLst>
          </a:prstGeom>
          <a:noFill/>
          <a:ln>
            <a:noFill/>
          </a:ln>
        </p:spPr>
      </p:sp>
      <p:sp>
        <p:nvSpPr>
          <p:cNvPr id="115" name="Google Shape;115;p35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Пользовательский макет">
  <p:cSld name="8_Пользовательский макет">
    <p:bg>
      <p:bgPr>
        <a:solidFill>
          <a:srgbClr val="FFFFFF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6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36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Пользовательский макет">
  <p:cSld name="2_Пользовательский макет">
    <p:bg>
      <p:bgPr>
        <a:solidFill>
          <a:srgbClr val="FFFFFF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7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37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37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37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4" name="Google Shape;124;p37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Custom Layout">
  <p:cSld name="7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8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38"/>
          <p:cNvSpPr txBox="1"/>
          <p:nvPr>
            <p:ph idx="1" type="body"/>
          </p:nvPr>
        </p:nvSpPr>
        <p:spPr>
          <a:xfrm>
            <a:off x="5733143" y="949330"/>
            <a:ext cx="2895600" cy="3895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8" name="Google Shape;128;p38"/>
          <p:cNvSpPr/>
          <p:nvPr>
            <p:ph idx="2" type="pic"/>
          </p:nvPr>
        </p:nvSpPr>
        <p:spPr>
          <a:xfrm>
            <a:off x="457200" y="949329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29" name="Google Shape;129;p38"/>
          <p:cNvSpPr/>
          <p:nvPr>
            <p:ph idx="3" type="pic"/>
          </p:nvPr>
        </p:nvSpPr>
        <p:spPr>
          <a:xfrm>
            <a:off x="3095171" y="949328"/>
            <a:ext cx="2532744" cy="1883023"/>
          </a:xfrm>
          <a:prstGeom prst="roundRect">
            <a:avLst>
              <a:gd fmla="val 11879" name="adj"/>
            </a:avLst>
          </a:prstGeom>
          <a:noFill/>
          <a:ln>
            <a:noFill/>
          </a:ln>
        </p:spPr>
      </p:sp>
      <p:sp>
        <p:nvSpPr>
          <p:cNvPr id="130" name="Google Shape;130;p38"/>
          <p:cNvSpPr/>
          <p:nvPr>
            <p:ph idx="4" type="pic"/>
          </p:nvPr>
        </p:nvSpPr>
        <p:spPr>
          <a:xfrm>
            <a:off x="3095171" y="2962031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31" name="Google Shape;131;p38"/>
          <p:cNvSpPr/>
          <p:nvPr>
            <p:ph idx="5" type="pic"/>
          </p:nvPr>
        </p:nvSpPr>
        <p:spPr>
          <a:xfrm>
            <a:off x="457199" y="2962031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/>
          <p:nvPr>
            <p:ph type="title"/>
          </p:nvPr>
        </p:nvSpPr>
        <p:spPr>
          <a:xfrm>
            <a:off x="457200" y="306434"/>
            <a:ext cx="8229600" cy="620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6"/>
          <p:cNvSpPr txBox="1"/>
          <p:nvPr>
            <p:ph idx="1" type="body"/>
          </p:nvPr>
        </p:nvSpPr>
        <p:spPr>
          <a:xfrm>
            <a:off x="457200" y="1121912"/>
            <a:ext cx="8229600" cy="2899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6"/>
          <p:cNvSpPr txBox="1"/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6"/>
          <p:cNvSpPr txBox="1"/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"/>
          <p:cNvSpPr txBox="1"/>
          <p:nvPr>
            <p:ph type="title"/>
          </p:nvPr>
        </p:nvSpPr>
        <p:spPr>
          <a:xfrm>
            <a:off x="1371600" y="2725775"/>
            <a:ext cx="6400800" cy="7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los Text SemiBold"/>
              <a:buNone/>
            </a:pPr>
            <a:r>
              <a:rPr lang="ru-RU" sz="3400">
                <a:solidFill>
                  <a:schemeClr val="lt1"/>
                </a:solidFill>
              </a:rPr>
              <a:t>Современные архитектуры нейронных сетей</a:t>
            </a:r>
            <a:endParaRPr sz="34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los Text SemiBold"/>
              <a:buNone/>
            </a:pPr>
            <a:r>
              <a:t/>
            </a:r>
            <a:endParaRPr sz="34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los Text SemiBold"/>
              <a:buNone/>
            </a:pPr>
            <a:r>
              <a:rPr lang="ru-RU" sz="3400">
                <a:solidFill>
                  <a:schemeClr val="lt1"/>
                </a:solidFill>
              </a:rPr>
              <a:t>Диффузионные сети (продолжение)</a:t>
            </a:r>
            <a:endParaRPr sz="34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19fc95aa18_0_60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-RU"/>
              <a:t>DDIM</a:t>
            </a:r>
            <a:endParaRPr/>
          </a:p>
        </p:txBody>
      </p:sp>
      <p:sp>
        <p:nvSpPr>
          <p:cNvPr id="143" name="Google Shape;143;g319fc95aa18_0_60"/>
          <p:cNvSpPr txBox="1"/>
          <p:nvPr>
            <p:ph idx="1" type="body"/>
          </p:nvPr>
        </p:nvSpPr>
        <p:spPr>
          <a:xfrm>
            <a:off x="457200" y="1211943"/>
            <a:ext cx="7467600" cy="34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pic>
        <p:nvPicPr>
          <p:cNvPr id="144" name="Google Shape;144;g319fc95aa18_0_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8675" y="2312400"/>
            <a:ext cx="7467600" cy="14020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21e002ecb3_0_60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-RU"/>
              <a:t>Латентная диффузия</a:t>
            </a:r>
            <a:endParaRPr/>
          </a:p>
        </p:txBody>
      </p:sp>
      <p:sp>
        <p:nvSpPr>
          <p:cNvPr id="151" name="Google Shape;151;g321e002ecb3_0_60"/>
          <p:cNvSpPr/>
          <p:nvPr/>
        </p:nvSpPr>
        <p:spPr>
          <a:xfrm>
            <a:off x="1831025" y="2138000"/>
            <a:ext cx="1125900" cy="981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52" name="Google Shape;152;g321e002ecb3_0_60"/>
          <p:cNvSpPr/>
          <p:nvPr/>
        </p:nvSpPr>
        <p:spPr>
          <a:xfrm>
            <a:off x="6125075" y="2138000"/>
            <a:ext cx="1125900" cy="981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53" name="Google Shape;153;g321e002ecb3_0_60"/>
          <p:cNvSpPr/>
          <p:nvPr/>
        </p:nvSpPr>
        <p:spPr>
          <a:xfrm>
            <a:off x="3524875" y="2158650"/>
            <a:ext cx="2012700" cy="981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54" name="Google Shape;154;g321e002ecb3_0_60"/>
          <p:cNvSpPr txBox="1"/>
          <p:nvPr/>
        </p:nvSpPr>
        <p:spPr>
          <a:xfrm>
            <a:off x="1696775" y="3436825"/>
            <a:ext cx="1394400" cy="4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Шум</a:t>
            </a:r>
            <a:endParaRPr sz="2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55" name="Google Shape;155;g321e002ecb3_0_60"/>
          <p:cNvSpPr txBox="1"/>
          <p:nvPr/>
        </p:nvSpPr>
        <p:spPr>
          <a:xfrm>
            <a:off x="6052800" y="3436825"/>
            <a:ext cx="1394400" cy="4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Картинка</a:t>
            </a:r>
            <a:endParaRPr sz="2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56" name="Google Shape;156;g321e002ecb3_0_60"/>
          <p:cNvSpPr txBox="1"/>
          <p:nvPr/>
        </p:nvSpPr>
        <p:spPr>
          <a:xfrm>
            <a:off x="3291200" y="3436825"/>
            <a:ext cx="2526600" cy="4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Диффузионная сеть (DDPM)</a:t>
            </a:r>
            <a:endParaRPr sz="2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57" name="Google Shape;157;g321e002ecb3_0_60"/>
          <p:cNvSpPr txBox="1"/>
          <p:nvPr/>
        </p:nvSpPr>
        <p:spPr>
          <a:xfrm>
            <a:off x="836600" y="1291050"/>
            <a:ext cx="54018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Какая проблема есть у DDPM?</a:t>
            </a:r>
            <a:endParaRPr sz="2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58" name="Google Shape;158;g321e002ecb3_0_60"/>
          <p:cNvSpPr/>
          <p:nvPr/>
        </p:nvSpPr>
        <p:spPr>
          <a:xfrm>
            <a:off x="3034350" y="2557400"/>
            <a:ext cx="413100" cy="142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59" name="Google Shape;159;g321e002ecb3_0_60"/>
          <p:cNvSpPr/>
          <p:nvPr/>
        </p:nvSpPr>
        <p:spPr>
          <a:xfrm>
            <a:off x="5624775" y="2578050"/>
            <a:ext cx="413100" cy="142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21e002ecb3_0_75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-RU"/>
              <a:t>Латентная диффузия (прямая диффузия)</a:t>
            </a:r>
            <a:endParaRPr/>
          </a:p>
        </p:txBody>
      </p:sp>
      <p:sp>
        <p:nvSpPr>
          <p:cNvPr id="166" name="Google Shape;166;g321e002ecb3_0_75"/>
          <p:cNvSpPr/>
          <p:nvPr/>
        </p:nvSpPr>
        <p:spPr>
          <a:xfrm>
            <a:off x="5375250" y="2127675"/>
            <a:ext cx="1125900" cy="981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67" name="Google Shape;167;g321e002ecb3_0_75"/>
          <p:cNvSpPr txBox="1"/>
          <p:nvPr/>
        </p:nvSpPr>
        <p:spPr>
          <a:xfrm>
            <a:off x="5060575" y="3452925"/>
            <a:ext cx="1835400" cy="4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Картинка в латентном пространстве s_0</a:t>
            </a:r>
            <a:endParaRPr sz="17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68" name="Google Shape;168;g321e002ecb3_0_75"/>
          <p:cNvSpPr/>
          <p:nvPr/>
        </p:nvSpPr>
        <p:spPr>
          <a:xfrm rot="5400000">
            <a:off x="3212225" y="1941825"/>
            <a:ext cx="1669200" cy="1353000"/>
          </a:xfrm>
          <a:prstGeom prst="trapezoid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69" name="Google Shape;169;g321e002ecb3_0_75"/>
          <p:cNvSpPr txBox="1"/>
          <p:nvPr/>
        </p:nvSpPr>
        <p:spPr>
          <a:xfrm>
            <a:off x="3129125" y="3547925"/>
            <a:ext cx="1835400" cy="4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Кодировщик VQ-VAE</a:t>
            </a:r>
            <a:endParaRPr sz="17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70" name="Google Shape;170;g321e002ecb3_0_75"/>
          <p:cNvSpPr/>
          <p:nvPr/>
        </p:nvSpPr>
        <p:spPr>
          <a:xfrm>
            <a:off x="842825" y="1783725"/>
            <a:ext cx="1835400" cy="1764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71" name="Google Shape;171;g321e002ecb3_0_75"/>
          <p:cNvSpPr/>
          <p:nvPr/>
        </p:nvSpPr>
        <p:spPr>
          <a:xfrm>
            <a:off x="2817725" y="2594625"/>
            <a:ext cx="413100" cy="142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72" name="Google Shape;172;g321e002ecb3_0_75"/>
          <p:cNvSpPr/>
          <p:nvPr/>
        </p:nvSpPr>
        <p:spPr>
          <a:xfrm>
            <a:off x="4862775" y="2547075"/>
            <a:ext cx="413100" cy="142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73" name="Google Shape;173;g321e002ecb3_0_75"/>
          <p:cNvSpPr txBox="1"/>
          <p:nvPr/>
        </p:nvSpPr>
        <p:spPr>
          <a:xfrm>
            <a:off x="370325" y="3674375"/>
            <a:ext cx="3000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Картинка в пиксельном пространстве x_0</a:t>
            </a:r>
            <a:endParaRPr/>
          </a:p>
        </p:txBody>
      </p:sp>
      <p:sp>
        <p:nvSpPr>
          <p:cNvPr id="174" name="Google Shape;174;g321e002ecb3_0_75"/>
          <p:cNvSpPr/>
          <p:nvPr/>
        </p:nvSpPr>
        <p:spPr>
          <a:xfrm rot="5400000">
            <a:off x="7370025" y="1672200"/>
            <a:ext cx="413100" cy="142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75" name="Google Shape;175;g321e002ecb3_0_75"/>
          <p:cNvSpPr/>
          <p:nvPr/>
        </p:nvSpPr>
        <p:spPr>
          <a:xfrm>
            <a:off x="7013625" y="2127675"/>
            <a:ext cx="1125900" cy="981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76" name="Google Shape;176;g321e002ecb3_0_75"/>
          <p:cNvSpPr txBox="1"/>
          <p:nvPr/>
        </p:nvSpPr>
        <p:spPr>
          <a:xfrm>
            <a:off x="7647825" y="1500750"/>
            <a:ext cx="912300" cy="4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+Шум</a:t>
            </a:r>
            <a:endParaRPr sz="17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77" name="Google Shape;177;g321e002ecb3_0_75"/>
          <p:cNvSpPr/>
          <p:nvPr/>
        </p:nvSpPr>
        <p:spPr>
          <a:xfrm>
            <a:off x="6550838" y="2547075"/>
            <a:ext cx="413100" cy="142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78" name="Google Shape;178;g321e002ecb3_0_75"/>
          <p:cNvSpPr txBox="1"/>
          <p:nvPr/>
        </p:nvSpPr>
        <p:spPr>
          <a:xfrm>
            <a:off x="6724725" y="3452925"/>
            <a:ext cx="1835400" cy="4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Шумная картинка s_t</a:t>
            </a:r>
            <a:endParaRPr sz="17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21df1b56f6_1_26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-RU"/>
              <a:t>Латентная диффузия (обратная диффузия)</a:t>
            </a:r>
            <a:endParaRPr/>
          </a:p>
        </p:txBody>
      </p:sp>
      <p:sp>
        <p:nvSpPr>
          <p:cNvPr id="185" name="Google Shape;185;g321df1b56f6_1_26"/>
          <p:cNvSpPr/>
          <p:nvPr/>
        </p:nvSpPr>
        <p:spPr>
          <a:xfrm>
            <a:off x="5375250" y="2127675"/>
            <a:ext cx="1125900" cy="981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86" name="Google Shape;186;g321df1b56f6_1_26"/>
          <p:cNvSpPr txBox="1"/>
          <p:nvPr/>
        </p:nvSpPr>
        <p:spPr>
          <a:xfrm>
            <a:off x="5060575" y="3452925"/>
            <a:ext cx="1835400" cy="4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Картинка в латентном пространстве s_0</a:t>
            </a:r>
            <a:endParaRPr sz="17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87" name="Google Shape;187;g321df1b56f6_1_26"/>
          <p:cNvSpPr/>
          <p:nvPr/>
        </p:nvSpPr>
        <p:spPr>
          <a:xfrm rot="5400000">
            <a:off x="3212225" y="1941825"/>
            <a:ext cx="1669200" cy="1353000"/>
          </a:xfrm>
          <a:prstGeom prst="trapezoid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88" name="Google Shape;188;g321df1b56f6_1_26"/>
          <p:cNvSpPr txBox="1"/>
          <p:nvPr/>
        </p:nvSpPr>
        <p:spPr>
          <a:xfrm>
            <a:off x="3129125" y="3547925"/>
            <a:ext cx="1835400" cy="4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Кодировщик VQ-VAE</a:t>
            </a:r>
            <a:endParaRPr sz="17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89" name="Google Shape;189;g321df1b56f6_1_26"/>
          <p:cNvSpPr/>
          <p:nvPr/>
        </p:nvSpPr>
        <p:spPr>
          <a:xfrm>
            <a:off x="842825" y="1783725"/>
            <a:ext cx="1835400" cy="1764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90" name="Google Shape;190;g321df1b56f6_1_26"/>
          <p:cNvSpPr/>
          <p:nvPr/>
        </p:nvSpPr>
        <p:spPr>
          <a:xfrm rot="10800000">
            <a:off x="2817725" y="2594625"/>
            <a:ext cx="413100" cy="142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91" name="Google Shape;191;g321df1b56f6_1_26"/>
          <p:cNvSpPr/>
          <p:nvPr/>
        </p:nvSpPr>
        <p:spPr>
          <a:xfrm rot="10800000">
            <a:off x="4862775" y="2547075"/>
            <a:ext cx="413100" cy="142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92" name="Google Shape;192;g321df1b56f6_1_26"/>
          <p:cNvSpPr txBox="1"/>
          <p:nvPr/>
        </p:nvSpPr>
        <p:spPr>
          <a:xfrm>
            <a:off x="370325" y="3674375"/>
            <a:ext cx="3000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Картинка в пиксельном пространстве x_0</a:t>
            </a:r>
            <a:endParaRPr/>
          </a:p>
        </p:txBody>
      </p:sp>
      <p:sp>
        <p:nvSpPr>
          <p:cNvPr id="193" name="Google Shape;193;g321df1b56f6_1_26"/>
          <p:cNvSpPr/>
          <p:nvPr/>
        </p:nvSpPr>
        <p:spPr>
          <a:xfrm rot="-5400000">
            <a:off x="7370025" y="1672200"/>
            <a:ext cx="413100" cy="142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94" name="Google Shape;194;g321df1b56f6_1_26"/>
          <p:cNvSpPr/>
          <p:nvPr/>
        </p:nvSpPr>
        <p:spPr>
          <a:xfrm>
            <a:off x="7013625" y="2127675"/>
            <a:ext cx="1125900" cy="981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95" name="Google Shape;195;g321df1b56f6_1_26"/>
          <p:cNvSpPr txBox="1"/>
          <p:nvPr/>
        </p:nvSpPr>
        <p:spPr>
          <a:xfrm>
            <a:off x="5060575" y="1146450"/>
            <a:ext cx="2296800" cy="8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-</a:t>
            </a:r>
            <a:r>
              <a:rPr lang="ru-RU" sz="17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Шум (извлекаем в несколько шагов)</a:t>
            </a:r>
            <a:endParaRPr sz="17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96" name="Google Shape;196;g321df1b56f6_1_26"/>
          <p:cNvSpPr/>
          <p:nvPr/>
        </p:nvSpPr>
        <p:spPr>
          <a:xfrm rot="10800000">
            <a:off x="6550876" y="2546950"/>
            <a:ext cx="413100" cy="142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97" name="Google Shape;197;g321df1b56f6_1_26"/>
          <p:cNvSpPr txBox="1"/>
          <p:nvPr/>
        </p:nvSpPr>
        <p:spPr>
          <a:xfrm>
            <a:off x="6724725" y="3452925"/>
            <a:ext cx="1835400" cy="4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Шумная картинка s_t</a:t>
            </a:r>
            <a:endParaRPr sz="17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21e002ecb3_0_6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-RU"/>
              <a:t>Латентная диффузия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-RU"/>
              <a:t>(Stable Diffusion)</a:t>
            </a:r>
            <a:endParaRPr/>
          </a:p>
        </p:txBody>
      </p:sp>
      <p:sp>
        <p:nvSpPr>
          <p:cNvPr id="204" name="Google Shape;204;g321e002ecb3_0_6"/>
          <p:cNvSpPr txBox="1"/>
          <p:nvPr>
            <p:ph idx="1" type="body"/>
          </p:nvPr>
        </p:nvSpPr>
        <p:spPr>
          <a:xfrm>
            <a:off x="457200" y="1211943"/>
            <a:ext cx="7467600" cy="34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pic>
        <p:nvPicPr>
          <p:cNvPr id="205" name="Google Shape;205;g321e002ecb3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1675" y="1211948"/>
            <a:ext cx="6765992" cy="3446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21e002ecb3_0_54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-RU"/>
              <a:t>Увеличиваем контроль над </a:t>
            </a:r>
            <a:r>
              <a:rPr lang="ru-RU"/>
              <a:t>генерацией</a:t>
            </a:r>
            <a:r>
              <a:rPr lang="ru-RU"/>
              <a:t> (Адаптеры)</a:t>
            </a:r>
            <a:endParaRPr/>
          </a:p>
        </p:txBody>
      </p:sp>
      <p:pic>
        <p:nvPicPr>
          <p:cNvPr id="212" name="Google Shape;212;g321e002ecb3_0_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0863" y="1534200"/>
            <a:ext cx="5342275" cy="2715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21df1b56f6_1_56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-RU"/>
              <a:t>Увеличиваем контроль над генерацией (Адаптеры)</a:t>
            </a:r>
            <a:endParaRPr/>
          </a:p>
        </p:txBody>
      </p:sp>
      <p:pic>
        <p:nvPicPr>
          <p:cNvPr id="219" name="Google Shape;219;g321df1b56f6_1_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9288" y="1161025"/>
            <a:ext cx="6385425" cy="3548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21df1b56f6_1_62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-RU"/>
              <a:t>Увеличиваем контроль над генерацией (ControlNet)</a:t>
            </a:r>
            <a:endParaRPr/>
          </a:p>
        </p:txBody>
      </p:sp>
      <p:pic>
        <p:nvPicPr>
          <p:cNvPr id="226" name="Google Shape;226;g321df1b56f6_1_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0175" y="1149975"/>
            <a:ext cx="3903643" cy="3447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21e002ecb3_0_48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Arial"/>
              <a:buNone/>
            </a:pPr>
            <a:r>
              <a:rPr lang="ru-RU"/>
              <a:t>Увеличиваем контроль над генерацией (ControlNet)</a:t>
            </a:r>
            <a:endParaRPr/>
          </a:p>
        </p:txBody>
      </p:sp>
      <p:pic>
        <p:nvPicPr>
          <p:cNvPr id="233" name="Google Shape;233;g321e002ecb3_0_48"/>
          <p:cNvPicPr preferRelativeResize="0"/>
          <p:nvPr/>
        </p:nvPicPr>
        <p:blipFill rotWithShape="1">
          <a:blip r:embed="rId3">
            <a:alphaModFix/>
          </a:blip>
          <a:srcRect b="26459" l="0" r="0" t="0"/>
          <a:stretch/>
        </p:blipFill>
        <p:spPr>
          <a:xfrm>
            <a:off x="1858813" y="1173213"/>
            <a:ext cx="5426378" cy="3524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21df1b56f6_1_44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Arial"/>
              <a:buNone/>
            </a:pPr>
            <a:r>
              <a:rPr lang="ru-RU"/>
              <a:t>Увеличиваем контроль над генерацией (UniControl)</a:t>
            </a:r>
            <a:endParaRPr/>
          </a:p>
        </p:txBody>
      </p:sp>
      <p:pic>
        <p:nvPicPr>
          <p:cNvPr id="240" name="Google Shape;240;g321df1b56f6_1_44"/>
          <p:cNvPicPr preferRelativeResize="0"/>
          <p:nvPr/>
        </p:nvPicPr>
        <p:blipFill rotWithShape="1">
          <a:blip r:embed="rId3">
            <a:alphaModFix/>
          </a:blip>
          <a:srcRect b="16015" l="0" r="0" t="0"/>
          <a:stretch/>
        </p:blipFill>
        <p:spPr>
          <a:xfrm>
            <a:off x="2125125" y="1211947"/>
            <a:ext cx="4893748" cy="3447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21df1b56f6_1_50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-RU"/>
              <a:t>Diffusion Super Resolution</a:t>
            </a:r>
            <a:endParaRPr/>
          </a:p>
        </p:txBody>
      </p:sp>
      <p:pic>
        <p:nvPicPr>
          <p:cNvPr id="247" name="Google Shape;247;g321df1b56f6_1_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7173" y="991475"/>
            <a:ext cx="5450624" cy="381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21e002ecb3_0_42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-RU"/>
              <a:t>Diffusion Transformer (DiT)</a:t>
            </a:r>
            <a:endParaRPr/>
          </a:p>
        </p:txBody>
      </p:sp>
      <p:pic>
        <p:nvPicPr>
          <p:cNvPr id="254" name="Google Shape;254;g321e002ecb3_0_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3150" y="1053500"/>
            <a:ext cx="7123400" cy="3704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21e002ecb3_0_0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261" name="Google Shape;261;g321e002ecb3_0_0"/>
          <p:cNvSpPr txBox="1"/>
          <p:nvPr>
            <p:ph idx="1" type="body"/>
          </p:nvPr>
        </p:nvSpPr>
        <p:spPr>
          <a:xfrm>
            <a:off x="457200" y="1211943"/>
            <a:ext cx="7467600" cy="34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2014-06-27T12:30:22Z</dcterms:created>
  <dc:creator>Al</dc:creator>
</cp:coreProperties>
</file>